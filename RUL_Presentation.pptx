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project asks a simple question: given sensor readings from a jet engine, how many cycles does it have left? We tested three models of increasing complexity to find 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simulates turbofan engines degrading until failure. Each row is one operational cycle with 24 raw features. We cap RUL at 125 because before that point engines show no degradation signal. Engine IDs are kept separate between train and test to prevent leakage.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preprocessing steps. Feature selection removes noise. Normalization ensures fair training. Windowing gives the LSTM temporal context — it sees the last 30 cycles at once, rather than just the current cycle.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of increasing complexity. Random Forest is our baseline — powerful but treats every cycle independently. MLP adds nonlinear transformations but still uses a flat input. LSTM is the only model that actually sees time — it processes 30 cycles in sequence.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care most about RMSE and R² for overall accuracy. But residual direction matters too — if we overestimate RUL we might delay maintenance on an engine that's about to fail. That's why we use asymmetric loss in the final LSTM: wrong in the dangerous direction costs more.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is a strong starting point. It handles nonlinearity well. But it sees each cycle as an isolated snapshot — it has no idea what happened 10 cycles ago. That's why it struggles early in degradation when the signal is subtle and slow-building. More trees or deeper trees don't help — the bottleneck is the flat input, not the model complexity.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MLP adds learnable nonlinear transformations on top of the flat window. It does improve slightly, and the scatter plot looks a bit tighter. But the validation-to-test drop in R² tells us it's not generalising well to new engines. The root cause is the same as RF: no temporal structure in the input.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LSTM is a clear winner. By processing 30 cycles in order it can detect gradual drift that a single-cycle model would miss. The smaller val-to-test drop tells us it generalises better to engines it's never seen. This makes sense — temporal patterns of degradation are more universal than any single-point feature snapshot.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tells the full story. LSTM leads on every accuracy metric. What's interesting is the efficiency angle: RF has a million parameters but cheap inference. LSTM has 83K parameters but expensive sequential computation — 22 billion FLOPs. For a safety-critical maintenance system, the accuracy gain is worth the compute cost.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selecting LSTM we ran a 150-configuration random search to tune it. The biggest wins came from longer sequences (75 vs 30 cycles) and asymmetric loss. The key conclusion: the ability to model time is what matters. If you can only pick one thing to improve a predictive maintenance model, add temporal structure.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0"/>
            <a:ext cx="11612880" cy="914400"/>
          </a:xfrm>
          <a:prstGeom prst="rect">
            <a:avLst/>
          </a:prstGeom>
          <a:noFill/>
        </p:spPr>
        <p:txBody>
          <a:bodyPr wrap="square">
            <a:spAutoFit/>
          </a:bodyPr>
          <a:lstStyle/>
          <a:p>
            <a:pPr algn="l"/>
            <a:r>
              <a:rPr sz="4000" b="1">
                <a:solidFill>
                  <a:srgbClr val="FFFFFF"/>
                </a:solidFill>
              </a:rPr>
              <a:t>Remaining Useful Life Estimation</a:t>
            </a:r>
          </a:p>
        </p:txBody>
      </p:sp>
      <p:sp>
        <p:nvSpPr>
          <p:cNvPr id="4" name="TextBox 3"/>
          <p:cNvSpPr txBox="1"/>
          <p:nvPr/>
        </p:nvSpPr>
        <p:spPr>
          <a:xfrm>
            <a:off x="274320" y="2194560"/>
            <a:ext cx="11612880" cy="777240"/>
          </a:xfrm>
          <a:prstGeom prst="rect">
            <a:avLst/>
          </a:prstGeom>
          <a:noFill/>
        </p:spPr>
        <p:txBody>
          <a:bodyPr wrap="square">
            <a:spAutoFit/>
          </a:bodyPr>
          <a:lstStyle/>
          <a:p>
            <a:pPr algn="l"/>
            <a:r>
              <a:rPr sz="3400" b="1">
                <a:solidFill>
                  <a:srgbClr val="00B4D8"/>
                </a:solidFill>
              </a:rPr>
              <a:t>of Turbofan Engines Using Machine Learning</a:t>
            </a:r>
          </a:p>
        </p:txBody>
      </p:sp>
      <p:sp>
        <p:nvSpPr>
          <p:cNvPr id="5" name="TextBox 4"/>
          <p:cNvSpPr txBox="1"/>
          <p:nvPr/>
        </p:nvSpPr>
        <p:spPr>
          <a:xfrm>
            <a:off x="274320" y="3200400"/>
            <a:ext cx="8229600" cy="457200"/>
          </a:xfrm>
          <a:prstGeom prst="rect">
            <a:avLst/>
          </a:prstGeom>
          <a:noFill/>
        </p:spPr>
        <p:txBody>
          <a:bodyPr wrap="square">
            <a:spAutoFit/>
          </a:bodyPr>
          <a:lstStyle/>
          <a:p>
            <a:pPr algn="l"/>
            <a:r>
              <a:rPr sz="2000" b="0">
                <a:solidFill>
                  <a:srgbClr val="7A96B2"/>
                </a:solidFill>
              </a:rPr>
              <a:t>Felix Ikokwu  ·  Hunter Antal   |   Lakehead University</a:t>
            </a:r>
          </a:p>
        </p:txBody>
      </p:sp>
      <p:sp>
        <p:nvSpPr>
          <p:cNvPr id="6" name="TextBox 5"/>
          <p:cNvSpPr txBox="1"/>
          <p:nvPr/>
        </p:nvSpPr>
        <p:spPr>
          <a:xfrm>
            <a:off x="274320" y="4023360"/>
            <a:ext cx="11430000" cy="1828800"/>
          </a:xfrm>
          <a:prstGeom prst="rect">
            <a:avLst/>
          </a:prstGeom>
          <a:noFill/>
        </p:spPr>
        <p:txBody>
          <a:bodyPr wrap="square">
            <a:spAutoFit/>
          </a:bodyPr>
          <a:lstStyle/>
          <a:p>
            <a:pPr>
              <a:spcBef>
                <a:spcPts val="600"/>
              </a:spcBef>
            </a:pPr>
            <a:r>
              <a:rPr sz="2100">
                <a:solidFill>
                  <a:srgbClr val="D0E8F5"/>
                </a:solidFill>
              </a:rPr>
              <a:t>•  Predict cycles remaining before engine failure</a:t>
            </a:r>
          </a:p>
          <a:p>
            <a:pPr>
              <a:spcBef>
                <a:spcPts val="600"/>
              </a:spcBef>
            </a:pPr>
            <a:r>
              <a:rPr sz="2100">
                <a:solidFill>
                  <a:srgbClr val="D0E8F5"/>
                </a:solidFill>
              </a:rPr>
              <a:t>•  NASA C-MAPSS FD001 dataset</a:t>
            </a:r>
          </a:p>
          <a:p>
            <a:pPr>
              <a:spcBef>
                <a:spcPts val="600"/>
              </a:spcBef>
            </a:pPr>
            <a:r>
              <a:rPr sz="2100">
                <a:solidFill>
                  <a:srgbClr val="D0E8F5"/>
                </a:solidFill>
              </a:rPr>
              <a:t>•  Models compared: Random Forest, MLP, LSTM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Dataset &amp; Problem</a:t>
            </a:r>
          </a:p>
        </p:txBody>
      </p:sp>
      <p:sp>
        <p:nvSpPr>
          <p:cNvPr id="4" name="Rectangle 3"/>
          <p:cNvSpPr/>
          <p:nvPr/>
        </p:nvSpPr>
        <p:spPr>
          <a:xfrm>
            <a:off x="10634472" y="137160"/>
            <a:ext cx="1371600" cy="4114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HUNTER  1/5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539496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5029200" cy="502920"/>
          </a:xfrm>
          <a:prstGeom prst="rect">
            <a:avLst/>
          </a:prstGeom>
          <a:noFill/>
        </p:spPr>
        <p:txBody>
          <a:bodyPr wrap="square">
            <a:spAutoFit/>
          </a:bodyPr>
          <a:lstStyle/>
          <a:p>
            <a:pPr algn="l"/>
            <a:r>
              <a:rPr sz="2100" b="1">
                <a:solidFill>
                  <a:srgbClr val="00B4D8"/>
                </a:solidFill>
              </a:rPr>
              <a:t>NASA C-MAPSS FD001</a:t>
            </a:r>
          </a:p>
        </p:txBody>
      </p:sp>
      <p:sp>
        <p:nvSpPr>
          <p:cNvPr id="9" name="TextBox 8"/>
          <p:cNvSpPr txBox="1"/>
          <p:nvPr/>
        </p:nvSpPr>
        <p:spPr>
          <a:xfrm>
            <a:off x="457200" y="1691640"/>
            <a:ext cx="5029200" cy="2286000"/>
          </a:xfrm>
          <a:prstGeom prst="rect">
            <a:avLst/>
          </a:prstGeom>
          <a:noFill/>
        </p:spPr>
        <p:txBody>
          <a:bodyPr wrap="square">
            <a:spAutoFit/>
          </a:bodyPr>
          <a:lstStyle/>
          <a:p>
            <a:pPr>
              <a:spcBef>
                <a:spcPts val="600"/>
              </a:spcBef>
            </a:pPr>
            <a:r>
              <a:rPr sz="2000">
                <a:solidFill>
                  <a:srgbClr val="D0E8F5"/>
                </a:solidFill>
              </a:rPr>
              <a:t>•  ~100 engines, run-to-failure</a:t>
            </a:r>
          </a:p>
          <a:p>
            <a:pPr>
              <a:spcBef>
                <a:spcPts val="600"/>
              </a:spcBef>
            </a:pPr>
            <a:r>
              <a:rPr sz="2000">
                <a:solidFill>
                  <a:srgbClr val="D0E8F5"/>
                </a:solidFill>
              </a:rPr>
              <a:t>•  21 sensors + 3 operational settings per cycle</a:t>
            </a:r>
          </a:p>
          <a:p>
            <a:pPr>
              <a:spcBef>
                <a:spcPts val="600"/>
              </a:spcBef>
            </a:pPr>
            <a:r>
              <a:rPr sz="2000">
                <a:solidFill>
                  <a:srgbClr val="D0E8F5"/>
                </a:solidFill>
              </a:rPr>
              <a:t>•  Training: full histories   |   Test: partial</a:t>
            </a:r>
          </a:p>
        </p:txBody>
      </p:sp>
      <p:sp>
        <p:nvSpPr>
          <p:cNvPr id="10" name="Rectangle 9"/>
          <p:cNvSpPr/>
          <p:nvPr/>
        </p:nvSpPr>
        <p:spPr>
          <a:xfrm>
            <a:off x="6309360" y="1005840"/>
            <a:ext cx="557784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097280"/>
            <a:ext cx="5212080" cy="502920"/>
          </a:xfrm>
          <a:prstGeom prst="rect">
            <a:avLst/>
          </a:prstGeom>
          <a:noFill/>
        </p:spPr>
        <p:txBody>
          <a:bodyPr wrap="square">
            <a:spAutoFit/>
          </a:bodyPr>
          <a:lstStyle/>
          <a:p>
            <a:pPr algn="l"/>
            <a:r>
              <a:rPr sz="2100" b="1">
                <a:solidFill>
                  <a:srgbClr val="00B4D8"/>
                </a:solidFill>
              </a:rPr>
              <a:t>Problem</a:t>
            </a:r>
          </a:p>
        </p:txBody>
      </p:sp>
      <p:sp>
        <p:nvSpPr>
          <p:cNvPr id="12" name="TextBox 11"/>
          <p:cNvSpPr txBox="1"/>
          <p:nvPr/>
        </p:nvSpPr>
        <p:spPr>
          <a:xfrm>
            <a:off x="6492240" y="1691640"/>
            <a:ext cx="5212080" cy="2286000"/>
          </a:xfrm>
          <a:prstGeom prst="rect">
            <a:avLst/>
          </a:prstGeom>
          <a:noFill/>
        </p:spPr>
        <p:txBody>
          <a:bodyPr wrap="square">
            <a:spAutoFit/>
          </a:bodyPr>
          <a:lstStyle/>
          <a:p>
            <a:pPr>
              <a:spcBef>
                <a:spcPts val="600"/>
              </a:spcBef>
            </a:pPr>
            <a:r>
              <a:rPr sz="2000">
                <a:solidFill>
                  <a:srgbClr val="D0E8F5"/>
                </a:solidFill>
              </a:rPr>
              <a:t>•  Supervised regression — predict RUL (cycles)</a:t>
            </a:r>
          </a:p>
          <a:p>
            <a:pPr>
              <a:spcBef>
                <a:spcPts val="600"/>
              </a:spcBef>
            </a:pPr>
            <a:r>
              <a:rPr sz="2000">
                <a:solidFill>
                  <a:srgbClr val="D0E8F5"/>
                </a:solidFill>
              </a:rPr>
              <a:t>•  RUL capped at 125  (healthy region)</a:t>
            </a:r>
          </a:p>
          <a:p>
            <a:pPr>
              <a:spcBef>
                <a:spcPts val="600"/>
              </a:spcBef>
            </a:pPr>
            <a:r>
              <a:rPr sz="2000">
                <a:solidFill>
                  <a:srgbClr val="D0E8F5"/>
                </a:solidFill>
              </a:rPr>
              <a:t>•  Split by engine ID — no data leakage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Data Preprocessing</a:t>
            </a:r>
          </a:p>
        </p:txBody>
      </p:sp>
      <p:sp>
        <p:nvSpPr>
          <p:cNvPr id="4" name="Rectangle 3"/>
          <p:cNvSpPr/>
          <p:nvPr/>
        </p:nvSpPr>
        <p:spPr>
          <a:xfrm>
            <a:off x="10634472" y="137160"/>
            <a:ext cx="1371600" cy="4114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HUNTER  2/5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370332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3703320" cy="438912"/>
          </a:xfrm>
          <a:prstGeom prst="rect">
            <a:avLst/>
          </a:prstGeom>
          <a:solidFill>
            <a:srgbClr val="007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033271"/>
            <a:ext cx="3520440" cy="384048"/>
          </a:xfrm>
          <a:prstGeom prst="rect">
            <a:avLst/>
          </a:prstGeom>
          <a:noFill/>
        </p:spPr>
        <p:txBody>
          <a:bodyPr wrap="square">
            <a:spAutoFit/>
          </a:bodyPr>
          <a:lstStyle/>
          <a:p>
            <a:pPr algn="l"/>
            <a:r>
              <a:rPr sz="1900" b="1">
                <a:solidFill>
                  <a:srgbClr val="FFFFFF"/>
                </a:solidFill>
              </a:rPr>
              <a:t>Feature Selection</a:t>
            </a:r>
          </a:p>
        </p:txBody>
      </p:sp>
      <p:sp>
        <p:nvSpPr>
          <p:cNvPr id="10" name="TextBox 9"/>
          <p:cNvSpPr txBox="1"/>
          <p:nvPr/>
        </p:nvSpPr>
        <p:spPr>
          <a:xfrm>
            <a:off x="384048" y="1536192"/>
            <a:ext cx="3520440" cy="4389120"/>
          </a:xfrm>
          <a:prstGeom prst="rect">
            <a:avLst/>
          </a:prstGeom>
          <a:noFill/>
        </p:spPr>
        <p:txBody>
          <a:bodyPr wrap="square">
            <a:spAutoFit/>
          </a:bodyPr>
          <a:lstStyle/>
          <a:p>
            <a:pPr>
              <a:spcBef>
                <a:spcPts val="600"/>
              </a:spcBef>
            </a:pPr>
            <a:r>
              <a:rPr sz="2000">
                <a:solidFill>
                  <a:srgbClr val="D0E8F5"/>
                </a:solidFill>
              </a:rPr>
              <a:t>•  9 features removed (low variance / low correlation)</a:t>
            </a:r>
          </a:p>
          <a:p>
            <a:pPr>
              <a:spcBef>
                <a:spcPts val="600"/>
              </a:spcBef>
            </a:pPr>
            <a:r>
              <a:rPr sz="2000">
                <a:solidFill>
                  <a:srgbClr val="D0E8F5"/>
                </a:solidFill>
              </a:rPr>
              <a:t>•  15 features retained</a:t>
            </a:r>
          </a:p>
        </p:txBody>
      </p:sp>
      <p:sp>
        <p:nvSpPr>
          <p:cNvPr id="11" name="Rectangle 10"/>
          <p:cNvSpPr/>
          <p:nvPr/>
        </p:nvSpPr>
        <p:spPr>
          <a:xfrm>
            <a:off x="4114800" y="1005840"/>
            <a:ext cx="370332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1005840"/>
            <a:ext cx="3703320" cy="438912"/>
          </a:xfrm>
          <a:prstGeom prst="rect">
            <a:avLst/>
          </a:prstGeom>
          <a:solidFill>
            <a:srgbClr val="007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24528" y="1033271"/>
            <a:ext cx="3520440" cy="384048"/>
          </a:xfrm>
          <a:prstGeom prst="rect">
            <a:avLst/>
          </a:prstGeom>
          <a:noFill/>
        </p:spPr>
        <p:txBody>
          <a:bodyPr wrap="square">
            <a:spAutoFit/>
          </a:bodyPr>
          <a:lstStyle/>
          <a:p>
            <a:pPr algn="l"/>
            <a:r>
              <a:rPr sz="1900" b="1">
                <a:solidFill>
                  <a:srgbClr val="FFFFFF"/>
                </a:solidFill>
              </a:rPr>
              <a:t>Normalization</a:t>
            </a:r>
          </a:p>
        </p:txBody>
      </p:sp>
      <p:sp>
        <p:nvSpPr>
          <p:cNvPr id="14" name="TextBox 13"/>
          <p:cNvSpPr txBox="1"/>
          <p:nvPr/>
        </p:nvSpPr>
        <p:spPr>
          <a:xfrm>
            <a:off x="4224528" y="1536192"/>
            <a:ext cx="3520440" cy="4389120"/>
          </a:xfrm>
          <a:prstGeom prst="rect">
            <a:avLst/>
          </a:prstGeom>
          <a:noFill/>
        </p:spPr>
        <p:txBody>
          <a:bodyPr wrap="square">
            <a:spAutoFit/>
          </a:bodyPr>
          <a:lstStyle/>
          <a:p>
            <a:pPr>
              <a:spcBef>
                <a:spcPts val="600"/>
              </a:spcBef>
            </a:pPr>
            <a:r>
              <a:rPr sz="2000">
                <a:solidFill>
                  <a:srgbClr val="D0E8F5"/>
                </a:solidFill>
              </a:rPr>
              <a:t>•  Z-score: mean = 0, std = 1</a:t>
            </a:r>
          </a:p>
          <a:p>
            <a:pPr>
              <a:spcBef>
                <a:spcPts val="600"/>
              </a:spcBef>
            </a:pPr>
            <a:r>
              <a:rPr sz="2000">
                <a:solidFill>
                  <a:srgbClr val="D0E8F5"/>
                </a:solidFill>
              </a:rPr>
              <a:t>•  Prevents any feature dominating training</a:t>
            </a:r>
          </a:p>
        </p:txBody>
      </p:sp>
      <p:sp>
        <p:nvSpPr>
          <p:cNvPr id="15" name="Rectangle 14"/>
          <p:cNvSpPr/>
          <p:nvPr/>
        </p:nvSpPr>
        <p:spPr>
          <a:xfrm>
            <a:off x="7955280" y="1005840"/>
            <a:ext cx="370332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80" y="1005840"/>
            <a:ext cx="3703320" cy="438912"/>
          </a:xfrm>
          <a:prstGeom prst="rect">
            <a:avLst/>
          </a:prstGeom>
          <a:solidFill>
            <a:srgbClr val="007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5008" y="1033271"/>
            <a:ext cx="3520440" cy="384048"/>
          </a:xfrm>
          <a:prstGeom prst="rect">
            <a:avLst/>
          </a:prstGeom>
          <a:noFill/>
        </p:spPr>
        <p:txBody>
          <a:bodyPr wrap="square">
            <a:spAutoFit/>
          </a:bodyPr>
          <a:lstStyle/>
          <a:p>
            <a:pPr algn="l"/>
            <a:r>
              <a:rPr sz="1900" b="1">
                <a:solidFill>
                  <a:srgbClr val="FFFFFF"/>
                </a:solidFill>
              </a:rPr>
              <a:t>Windowing (LSTM)</a:t>
            </a:r>
          </a:p>
        </p:txBody>
      </p:sp>
      <p:sp>
        <p:nvSpPr>
          <p:cNvPr id="18" name="TextBox 17"/>
          <p:cNvSpPr txBox="1"/>
          <p:nvPr/>
        </p:nvSpPr>
        <p:spPr>
          <a:xfrm>
            <a:off x="8065008" y="1536192"/>
            <a:ext cx="3520440" cy="4389120"/>
          </a:xfrm>
          <a:prstGeom prst="rect">
            <a:avLst/>
          </a:prstGeom>
          <a:noFill/>
        </p:spPr>
        <p:txBody>
          <a:bodyPr wrap="square">
            <a:spAutoFit/>
          </a:bodyPr>
          <a:lstStyle/>
          <a:p>
            <a:pPr>
              <a:spcBef>
                <a:spcPts val="600"/>
              </a:spcBef>
            </a:pPr>
            <a:r>
              <a:rPr sz="2000">
                <a:solidFill>
                  <a:srgbClr val="D0E8F5"/>
                </a:solidFill>
              </a:rPr>
              <a:t>•  30-cycle sliding windows</a:t>
            </a:r>
          </a:p>
          <a:p>
            <a:pPr>
              <a:spcBef>
                <a:spcPts val="600"/>
              </a:spcBef>
            </a:pPr>
            <a:r>
              <a:rPr sz="2000">
                <a:solidFill>
                  <a:srgbClr val="D0E8F5"/>
                </a:solidFill>
              </a:rPr>
              <a:t>•  RF &amp; MLP flatten to a 450-dim vector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Model Architectures</a:t>
            </a:r>
          </a:p>
        </p:txBody>
      </p:sp>
      <p:sp>
        <p:nvSpPr>
          <p:cNvPr id="4" name="Rectangle 3"/>
          <p:cNvSpPr/>
          <p:nvPr/>
        </p:nvSpPr>
        <p:spPr>
          <a:xfrm>
            <a:off x="10634472" y="137160"/>
            <a:ext cx="1371600" cy="4114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HUNTER  3/5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370332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078992"/>
            <a:ext cx="1463040" cy="292608"/>
          </a:xfrm>
          <a:prstGeom prst="rect">
            <a:avLst/>
          </a:prstGeom>
          <a:solidFill>
            <a:srgbClr val="3A5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078992"/>
            <a:ext cx="1463040" cy="292608"/>
          </a:xfrm>
          <a:prstGeom prst="rect">
            <a:avLst/>
          </a:prstGeom>
          <a:noFill/>
        </p:spPr>
        <p:txBody>
          <a:bodyPr wrap="square">
            <a:spAutoFit/>
          </a:bodyPr>
          <a:lstStyle/>
          <a:p>
            <a:pPr algn="ctr"/>
            <a:r>
              <a:rPr sz="1200" b="1">
                <a:solidFill>
                  <a:srgbClr val="FFFFFF"/>
                </a:solidFill>
              </a:rPr>
              <a:t>BASELINE</a:t>
            </a:r>
          </a:p>
        </p:txBody>
      </p:sp>
      <p:sp>
        <p:nvSpPr>
          <p:cNvPr id="10" name="TextBox 9"/>
          <p:cNvSpPr txBox="1"/>
          <p:nvPr/>
        </p:nvSpPr>
        <p:spPr>
          <a:xfrm>
            <a:off x="384048" y="1444752"/>
            <a:ext cx="3520440" cy="457200"/>
          </a:xfrm>
          <a:prstGeom prst="rect">
            <a:avLst/>
          </a:prstGeom>
          <a:noFill/>
        </p:spPr>
        <p:txBody>
          <a:bodyPr wrap="square">
            <a:spAutoFit/>
          </a:bodyPr>
          <a:lstStyle/>
          <a:p>
            <a:pPr algn="l"/>
            <a:r>
              <a:rPr sz="2200" b="1">
                <a:solidFill>
                  <a:srgbClr val="00B4D8"/>
                </a:solidFill>
              </a:rPr>
              <a:t>Random Forest</a:t>
            </a:r>
          </a:p>
        </p:txBody>
      </p:sp>
      <p:sp>
        <p:nvSpPr>
          <p:cNvPr id="11" name="TextBox 10"/>
          <p:cNvSpPr txBox="1"/>
          <p:nvPr/>
        </p:nvSpPr>
        <p:spPr>
          <a:xfrm>
            <a:off x="384048" y="1965960"/>
            <a:ext cx="3520440" cy="3931920"/>
          </a:xfrm>
          <a:prstGeom prst="rect">
            <a:avLst/>
          </a:prstGeom>
          <a:noFill/>
        </p:spPr>
        <p:txBody>
          <a:bodyPr wrap="square">
            <a:spAutoFit/>
          </a:bodyPr>
          <a:lstStyle/>
          <a:p>
            <a:pPr>
              <a:spcBef>
                <a:spcPts val="600"/>
              </a:spcBef>
            </a:pPr>
            <a:r>
              <a:rPr sz="2000">
                <a:solidFill>
                  <a:srgbClr val="D0E8F5"/>
                </a:solidFill>
              </a:rPr>
              <a:t>•  Ensemble of decision trees</a:t>
            </a:r>
          </a:p>
          <a:p>
            <a:pPr>
              <a:spcBef>
                <a:spcPts val="600"/>
              </a:spcBef>
            </a:pPr>
            <a:r>
              <a:rPr sz="2000">
                <a:solidFill>
                  <a:srgbClr val="D0E8F5"/>
                </a:solidFill>
              </a:rPr>
              <a:t>•  1 M params  |  52 M FLOPs</a:t>
            </a:r>
          </a:p>
        </p:txBody>
      </p:sp>
      <p:sp>
        <p:nvSpPr>
          <p:cNvPr id="12" name="Rectangle 11"/>
          <p:cNvSpPr/>
          <p:nvPr/>
        </p:nvSpPr>
        <p:spPr>
          <a:xfrm>
            <a:off x="4114800" y="1005840"/>
            <a:ext cx="370332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24528" y="1078992"/>
            <a:ext cx="1463040" cy="292608"/>
          </a:xfrm>
          <a:prstGeom prst="rect">
            <a:avLst/>
          </a:prstGeom>
          <a:solidFill>
            <a:srgbClr val="2A7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24528" y="1078992"/>
            <a:ext cx="1463040" cy="292608"/>
          </a:xfrm>
          <a:prstGeom prst="rect">
            <a:avLst/>
          </a:prstGeom>
          <a:noFill/>
        </p:spPr>
        <p:txBody>
          <a:bodyPr wrap="square">
            <a:spAutoFit/>
          </a:bodyPr>
          <a:lstStyle/>
          <a:p>
            <a:pPr algn="ctr"/>
            <a:r>
              <a:rPr sz="1200" b="1">
                <a:solidFill>
                  <a:srgbClr val="FFFFFF"/>
                </a:solidFill>
              </a:rPr>
              <a:t>INTERMEDIATE</a:t>
            </a:r>
          </a:p>
        </p:txBody>
      </p:sp>
      <p:sp>
        <p:nvSpPr>
          <p:cNvPr id="15" name="TextBox 14"/>
          <p:cNvSpPr txBox="1"/>
          <p:nvPr/>
        </p:nvSpPr>
        <p:spPr>
          <a:xfrm>
            <a:off x="4224528" y="1444752"/>
            <a:ext cx="3520440" cy="457200"/>
          </a:xfrm>
          <a:prstGeom prst="rect">
            <a:avLst/>
          </a:prstGeom>
          <a:noFill/>
        </p:spPr>
        <p:txBody>
          <a:bodyPr wrap="square">
            <a:spAutoFit/>
          </a:bodyPr>
          <a:lstStyle/>
          <a:p>
            <a:pPr algn="l"/>
            <a:r>
              <a:rPr sz="2200" b="1">
                <a:solidFill>
                  <a:srgbClr val="00B4D8"/>
                </a:solidFill>
              </a:rPr>
              <a:t>MLP</a:t>
            </a:r>
          </a:p>
        </p:txBody>
      </p:sp>
      <p:sp>
        <p:nvSpPr>
          <p:cNvPr id="16" name="TextBox 15"/>
          <p:cNvSpPr txBox="1"/>
          <p:nvPr/>
        </p:nvSpPr>
        <p:spPr>
          <a:xfrm>
            <a:off x="4224528" y="1965960"/>
            <a:ext cx="3520440" cy="3931920"/>
          </a:xfrm>
          <a:prstGeom prst="rect">
            <a:avLst/>
          </a:prstGeom>
          <a:noFill/>
        </p:spPr>
        <p:txBody>
          <a:bodyPr wrap="square">
            <a:spAutoFit/>
          </a:bodyPr>
          <a:lstStyle/>
          <a:p>
            <a:pPr>
              <a:spcBef>
                <a:spcPts val="600"/>
              </a:spcBef>
            </a:pPr>
            <a:r>
              <a:rPr sz="2000">
                <a:solidFill>
                  <a:srgbClr val="D0E8F5"/>
                </a:solidFill>
              </a:rPr>
              <a:t>•  3 hidden layers: 128 → 64 → 32</a:t>
            </a:r>
          </a:p>
          <a:p>
            <a:pPr>
              <a:spcBef>
                <a:spcPts val="600"/>
              </a:spcBef>
            </a:pPr>
            <a:r>
              <a:rPr sz="2000">
                <a:solidFill>
                  <a:srgbClr val="D0E8F5"/>
                </a:solidFill>
              </a:rPr>
              <a:t>•  BatchNorm + Dropout  |  18 K params</a:t>
            </a:r>
          </a:p>
        </p:txBody>
      </p:sp>
      <p:sp>
        <p:nvSpPr>
          <p:cNvPr id="17" name="Rectangle 16"/>
          <p:cNvSpPr/>
          <p:nvPr/>
        </p:nvSpPr>
        <p:spPr>
          <a:xfrm>
            <a:off x="7955280" y="1005840"/>
            <a:ext cx="370332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1078992"/>
            <a:ext cx="1463040" cy="292608"/>
          </a:xfrm>
          <a:prstGeom prst="rect">
            <a:avLst/>
          </a:prstGeom>
          <a:solidFill>
            <a:srgbClr val="007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1078992"/>
            <a:ext cx="1463040" cy="292608"/>
          </a:xfrm>
          <a:prstGeom prst="rect">
            <a:avLst/>
          </a:prstGeom>
          <a:noFill/>
        </p:spPr>
        <p:txBody>
          <a:bodyPr wrap="square">
            <a:spAutoFit/>
          </a:bodyPr>
          <a:lstStyle/>
          <a:p>
            <a:pPr algn="ctr"/>
            <a:r>
              <a:rPr sz="1200" b="1">
                <a:solidFill>
                  <a:srgbClr val="FFFFFF"/>
                </a:solidFill>
              </a:rPr>
              <a:t>BEST</a:t>
            </a:r>
          </a:p>
        </p:txBody>
      </p:sp>
      <p:sp>
        <p:nvSpPr>
          <p:cNvPr id="20" name="TextBox 19"/>
          <p:cNvSpPr txBox="1"/>
          <p:nvPr/>
        </p:nvSpPr>
        <p:spPr>
          <a:xfrm>
            <a:off x="8065008" y="1444752"/>
            <a:ext cx="3520440" cy="457200"/>
          </a:xfrm>
          <a:prstGeom prst="rect">
            <a:avLst/>
          </a:prstGeom>
          <a:noFill/>
        </p:spPr>
        <p:txBody>
          <a:bodyPr wrap="square">
            <a:spAutoFit/>
          </a:bodyPr>
          <a:lstStyle/>
          <a:p>
            <a:pPr algn="l"/>
            <a:r>
              <a:rPr sz="2200" b="1">
                <a:solidFill>
                  <a:srgbClr val="00B4D8"/>
                </a:solidFill>
              </a:rPr>
              <a:t>LSTM</a:t>
            </a:r>
          </a:p>
        </p:txBody>
      </p:sp>
      <p:sp>
        <p:nvSpPr>
          <p:cNvPr id="21" name="TextBox 20"/>
          <p:cNvSpPr txBox="1"/>
          <p:nvPr/>
        </p:nvSpPr>
        <p:spPr>
          <a:xfrm>
            <a:off x="8065008" y="1965960"/>
            <a:ext cx="3520440" cy="3931920"/>
          </a:xfrm>
          <a:prstGeom prst="rect">
            <a:avLst/>
          </a:prstGeom>
          <a:noFill/>
        </p:spPr>
        <p:txBody>
          <a:bodyPr wrap="square">
            <a:spAutoFit/>
          </a:bodyPr>
          <a:lstStyle/>
          <a:p>
            <a:pPr>
              <a:spcBef>
                <a:spcPts val="600"/>
              </a:spcBef>
            </a:pPr>
            <a:r>
              <a:rPr sz="2000">
                <a:solidFill>
                  <a:srgbClr val="D0E8F5"/>
                </a:solidFill>
              </a:rPr>
              <a:t>•  128-unit recurrent layer</a:t>
            </a:r>
          </a:p>
          <a:p>
            <a:pPr>
              <a:spcBef>
                <a:spcPts val="600"/>
              </a:spcBef>
            </a:pPr>
            <a:r>
              <a:rPr sz="2000">
                <a:solidFill>
                  <a:srgbClr val="D0E8F5"/>
                </a:solidFill>
              </a:rPr>
              <a:t>•  Preserves 30-cycle temporal order</a:t>
            </a:r>
          </a:p>
          <a:p>
            <a:pPr>
              <a:spcBef>
                <a:spcPts val="600"/>
              </a:spcBef>
            </a:pPr>
            <a:r>
              <a:rPr sz="2000">
                <a:solidFill>
                  <a:srgbClr val="D0E8F5"/>
                </a:solidFill>
              </a:rPr>
              <a:t>•  83 K params  |  22.6 B FLOPs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Evaluation Framework</a:t>
            </a:r>
          </a:p>
        </p:txBody>
      </p:sp>
      <p:sp>
        <p:nvSpPr>
          <p:cNvPr id="4" name="Rectangle 3"/>
          <p:cNvSpPr/>
          <p:nvPr/>
        </p:nvSpPr>
        <p:spPr>
          <a:xfrm>
            <a:off x="10634472" y="137160"/>
            <a:ext cx="1371600" cy="4114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HUNTER  4/5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539496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5029200" cy="457200"/>
          </a:xfrm>
          <a:prstGeom prst="rect">
            <a:avLst/>
          </a:prstGeom>
          <a:noFill/>
        </p:spPr>
        <p:txBody>
          <a:bodyPr wrap="square">
            <a:spAutoFit/>
          </a:bodyPr>
          <a:lstStyle/>
          <a:p>
            <a:pPr algn="l"/>
            <a:r>
              <a:rPr sz="2100" b="1">
                <a:solidFill>
                  <a:srgbClr val="00B4D8"/>
                </a:solidFill>
              </a:rPr>
              <a:t>Accuracy Metrics</a:t>
            </a:r>
          </a:p>
        </p:txBody>
      </p:sp>
      <p:sp>
        <p:nvSpPr>
          <p:cNvPr id="9" name="TextBox 8"/>
          <p:cNvSpPr txBox="1"/>
          <p:nvPr/>
        </p:nvSpPr>
        <p:spPr>
          <a:xfrm>
            <a:off x="457200" y="1645920"/>
            <a:ext cx="5029200" cy="2286000"/>
          </a:xfrm>
          <a:prstGeom prst="rect">
            <a:avLst/>
          </a:prstGeom>
          <a:noFill/>
        </p:spPr>
        <p:txBody>
          <a:bodyPr wrap="square">
            <a:spAutoFit/>
          </a:bodyPr>
          <a:lstStyle/>
          <a:p>
            <a:pPr>
              <a:spcBef>
                <a:spcPts val="600"/>
              </a:spcBef>
            </a:pPr>
            <a:r>
              <a:rPr sz="2100">
                <a:solidFill>
                  <a:srgbClr val="D0E8F5"/>
                </a:solidFill>
              </a:rPr>
              <a:t>•  MAE  —  avg error in cycles</a:t>
            </a:r>
          </a:p>
          <a:p>
            <a:pPr>
              <a:spcBef>
                <a:spcPts val="600"/>
              </a:spcBef>
            </a:pPr>
            <a:r>
              <a:rPr sz="2100">
                <a:solidFill>
                  <a:srgbClr val="D0E8F5"/>
                </a:solidFill>
              </a:rPr>
              <a:t>•  RMSE  —  penalises large errors</a:t>
            </a:r>
          </a:p>
          <a:p>
            <a:pPr>
              <a:spcBef>
                <a:spcPts val="600"/>
              </a:spcBef>
            </a:pPr>
            <a:r>
              <a:rPr sz="2100">
                <a:solidFill>
                  <a:srgbClr val="D0E8F5"/>
                </a:solidFill>
              </a:rPr>
              <a:t>•  R²  —  variance explained (0–1)</a:t>
            </a:r>
          </a:p>
        </p:txBody>
      </p:sp>
      <p:sp>
        <p:nvSpPr>
          <p:cNvPr id="10" name="Rectangle 9"/>
          <p:cNvSpPr/>
          <p:nvPr/>
        </p:nvSpPr>
        <p:spPr>
          <a:xfrm>
            <a:off x="6309360" y="1005840"/>
            <a:ext cx="557784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097280"/>
            <a:ext cx="5212080" cy="457200"/>
          </a:xfrm>
          <a:prstGeom prst="rect">
            <a:avLst/>
          </a:prstGeom>
          <a:noFill/>
        </p:spPr>
        <p:txBody>
          <a:bodyPr wrap="square">
            <a:spAutoFit/>
          </a:bodyPr>
          <a:lstStyle/>
          <a:p>
            <a:pPr algn="l"/>
            <a:r>
              <a:rPr sz="2100" b="1">
                <a:solidFill>
                  <a:srgbClr val="00B4D8"/>
                </a:solidFill>
              </a:rPr>
              <a:t>Residual &amp; Cost</a:t>
            </a:r>
          </a:p>
        </p:txBody>
      </p:sp>
      <p:sp>
        <p:nvSpPr>
          <p:cNvPr id="12" name="TextBox 11"/>
          <p:cNvSpPr txBox="1"/>
          <p:nvPr/>
        </p:nvSpPr>
        <p:spPr>
          <a:xfrm>
            <a:off x="6492240" y="1645920"/>
            <a:ext cx="5212080" cy="4114800"/>
          </a:xfrm>
          <a:prstGeom prst="rect">
            <a:avLst/>
          </a:prstGeom>
          <a:noFill/>
        </p:spPr>
        <p:txBody>
          <a:bodyPr wrap="square">
            <a:spAutoFit/>
          </a:bodyPr>
          <a:lstStyle/>
          <a:p>
            <a:pPr>
              <a:spcBef>
                <a:spcPts val="600"/>
              </a:spcBef>
            </a:pPr>
            <a:r>
              <a:rPr sz="2000">
                <a:solidFill>
                  <a:srgbClr val="D0E8F5"/>
                </a:solidFill>
              </a:rPr>
              <a:t>•  Residual = Actual − Predicted</a:t>
            </a:r>
          </a:p>
          <a:p>
            <a:pPr>
              <a:spcBef>
                <a:spcPts val="600"/>
              </a:spcBef>
            </a:pPr>
            <a:r>
              <a:rPr sz="2000">
                <a:solidFill>
                  <a:srgbClr val="D0E8F5"/>
                </a:solidFill>
              </a:rPr>
              <a:t>•  Overprediction = engine seems healthier than it is → dangerous</a:t>
            </a:r>
          </a:p>
          <a:p>
            <a:pPr>
              <a:spcBef>
                <a:spcPts val="600"/>
              </a:spcBef>
            </a:pPr>
            <a:r>
              <a:rPr sz="2000">
                <a:solidFill>
                  <a:srgbClr val="D0E8F5"/>
                </a:solidFill>
              </a:rPr>
              <a:t>•  Asymmetric loss penalises overprediction 50% harder (α = 1.5)</a:t>
            </a:r>
          </a:p>
          <a:p>
            <a:pPr>
              <a:spcBef>
                <a:spcPts val="600"/>
              </a:spcBef>
            </a:pPr>
            <a:r>
              <a:rPr sz="2000">
                <a:solidFill>
                  <a:srgbClr val="D0E8F5"/>
                </a:solidFill>
              </a:rPr>
              <a:t>•  Efficiency: parameter count &amp; FLOPs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Random Forest — Results</a:t>
            </a:r>
          </a:p>
        </p:txBody>
      </p:sp>
      <p:sp>
        <p:nvSpPr>
          <p:cNvPr id="4" name="Rectangle 3"/>
          <p:cNvSpPr/>
          <p:nvPr/>
        </p:nvSpPr>
        <p:spPr>
          <a:xfrm>
            <a:off x="10634472" y="137160"/>
            <a:ext cx="1371600" cy="41148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FELIX  1/5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51560"/>
            <a:ext cx="3794760" cy="502920"/>
          </a:xfrm>
          <a:prstGeom prst="rect">
            <a:avLst/>
          </a:prstGeom>
          <a:noFill/>
        </p:spPr>
        <p:txBody>
          <a:bodyPr wrap="square">
            <a:spAutoFit/>
          </a:bodyPr>
          <a:lstStyle/>
          <a:p>
            <a:pPr algn="ctr"/>
            <a:r>
              <a:rPr sz="2800" b="1">
                <a:solidFill>
                  <a:srgbClr val="6FD08C"/>
                </a:solidFill>
              </a:rPr>
              <a:t>12.38</a:t>
            </a:r>
          </a:p>
        </p:txBody>
      </p:sp>
      <p:sp>
        <p:nvSpPr>
          <p:cNvPr id="9" name="TextBox 8"/>
          <p:cNvSpPr txBox="1"/>
          <p:nvPr/>
        </p:nvSpPr>
        <p:spPr>
          <a:xfrm>
            <a:off x="274320" y="1536192"/>
            <a:ext cx="3794760" cy="292608"/>
          </a:xfrm>
          <a:prstGeom prst="rect">
            <a:avLst/>
          </a:prstGeom>
          <a:noFill/>
        </p:spPr>
        <p:txBody>
          <a:bodyPr wrap="square">
            <a:spAutoFit/>
          </a:bodyPr>
          <a:lstStyle/>
          <a:p>
            <a:pPr algn="ctr"/>
            <a:r>
              <a:rPr sz="1400" b="0">
                <a:solidFill>
                  <a:srgbClr val="7A96B2"/>
                </a:solidFill>
              </a:rPr>
              <a:t>MAE (test)</a:t>
            </a:r>
          </a:p>
        </p:txBody>
      </p:sp>
      <p:sp>
        <p:nvSpPr>
          <p:cNvPr id="10" name="Rectangle 9"/>
          <p:cNvSpPr/>
          <p:nvPr/>
        </p:nvSpPr>
        <p:spPr>
          <a:xfrm>
            <a:off x="420624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051560"/>
            <a:ext cx="3794760" cy="502920"/>
          </a:xfrm>
          <a:prstGeom prst="rect">
            <a:avLst/>
          </a:prstGeom>
          <a:noFill/>
        </p:spPr>
        <p:txBody>
          <a:bodyPr wrap="square">
            <a:spAutoFit/>
          </a:bodyPr>
          <a:lstStyle/>
          <a:p>
            <a:pPr algn="ctr"/>
            <a:r>
              <a:rPr sz="2800" b="1">
                <a:solidFill>
                  <a:srgbClr val="6FD08C"/>
                </a:solidFill>
              </a:rPr>
              <a:t>17.18</a:t>
            </a:r>
          </a:p>
        </p:txBody>
      </p:sp>
      <p:sp>
        <p:nvSpPr>
          <p:cNvPr id="12" name="TextBox 11"/>
          <p:cNvSpPr txBox="1"/>
          <p:nvPr/>
        </p:nvSpPr>
        <p:spPr>
          <a:xfrm>
            <a:off x="4206240" y="1536192"/>
            <a:ext cx="3794760" cy="292608"/>
          </a:xfrm>
          <a:prstGeom prst="rect">
            <a:avLst/>
          </a:prstGeom>
          <a:noFill/>
        </p:spPr>
        <p:txBody>
          <a:bodyPr wrap="square">
            <a:spAutoFit/>
          </a:bodyPr>
          <a:lstStyle/>
          <a:p>
            <a:pPr algn="ctr"/>
            <a:r>
              <a:rPr sz="1400" b="0">
                <a:solidFill>
                  <a:srgbClr val="7A96B2"/>
                </a:solidFill>
              </a:rPr>
              <a:t>RMSE (test)</a:t>
            </a:r>
          </a:p>
        </p:txBody>
      </p:sp>
      <p:sp>
        <p:nvSpPr>
          <p:cNvPr id="13" name="Rectangle 12"/>
          <p:cNvSpPr/>
          <p:nvPr/>
        </p:nvSpPr>
        <p:spPr>
          <a:xfrm>
            <a:off x="813816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051560"/>
            <a:ext cx="3794760" cy="502920"/>
          </a:xfrm>
          <a:prstGeom prst="rect">
            <a:avLst/>
          </a:prstGeom>
          <a:noFill/>
        </p:spPr>
        <p:txBody>
          <a:bodyPr wrap="square">
            <a:spAutoFit/>
          </a:bodyPr>
          <a:lstStyle/>
          <a:p>
            <a:pPr algn="ctr"/>
            <a:r>
              <a:rPr sz="2800" b="1">
                <a:solidFill>
                  <a:srgbClr val="6FD08C"/>
                </a:solidFill>
              </a:rPr>
              <a:t>0.612</a:t>
            </a:r>
          </a:p>
        </p:txBody>
      </p:sp>
      <p:sp>
        <p:nvSpPr>
          <p:cNvPr id="15" name="TextBox 14"/>
          <p:cNvSpPr txBox="1"/>
          <p:nvPr/>
        </p:nvSpPr>
        <p:spPr>
          <a:xfrm>
            <a:off x="8138160" y="1536192"/>
            <a:ext cx="3794760" cy="292608"/>
          </a:xfrm>
          <a:prstGeom prst="rect">
            <a:avLst/>
          </a:prstGeom>
          <a:noFill/>
        </p:spPr>
        <p:txBody>
          <a:bodyPr wrap="square">
            <a:spAutoFit/>
          </a:bodyPr>
          <a:lstStyle/>
          <a:p>
            <a:pPr algn="ctr"/>
            <a:r>
              <a:rPr sz="1400" b="0">
                <a:solidFill>
                  <a:srgbClr val="7A96B2"/>
                </a:solidFill>
              </a:rPr>
              <a:t>R² (test)</a:t>
            </a:r>
          </a:p>
        </p:txBody>
      </p:sp>
      <p:sp>
        <p:nvSpPr>
          <p:cNvPr id="16" name="TextBox 15"/>
          <p:cNvSpPr txBox="1"/>
          <p:nvPr/>
        </p:nvSpPr>
        <p:spPr>
          <a:xfrm>
            <a:off x="274320" y="2148840"/>
            <a:ext cx="11521440" cy="3931920"/>
          </a:xfrm>
          <a:prstGeom prst="rect">
            <a:avLst/>
          </a:prstGeom>
          <a:noFill/>
        </p:spPr>
        <p:txBody>
          <a:bodyPr wrap="square">
            <a:spAutoFit/>
          </a:bodyPr>
          <a:lstStyle/>
          <a:p>
            <a:pPr>
              <a:spcBef>
                <a:spcPts val="600"/>
              </a:spcBef>
            </a:pPr>
            <a:r>
              <a:rPr sz="2100">
                <a:solidFill>
                  <a:srgbClr val="D0E8F5"/>
                </a:solidFill>
              </a:rPr>
              <a:t>•  Solid baseline — captures nonlinear feature relationships</a:t>
            </a:r>
          </a:p>
          <a:p>
            <a:pPr>
              <a:spcBef>
                <a:spcPts val="600"/>
              </a:spcBef>
            </a:pPr>
            <a:r>
              <a:rPr sz="2100">
                <a:solidFill>
                  <a:srgbClr val="D0E8F5"/>
                </a:solidFill>
              </a:rPr>
              <a:t>•  Compresses predictions at high RUL (early degradation) — underestimates severity</a:t>
            </a:r>
          </a:p>
          <a:p>
            <a:pPr>
              <a:spcBef>
                <a:spcPts val="600"/>
              </a:spcBef>
            </a:pPr>
            <a:r>
              <a:rPr sz="2100">
                <a:solidFill>
                  <a:srgbClr val="D0E8F5"/>
                </a:solidFill>
              </a:rPr>
              <a:t>•  Residual variance grows as engine approaches failure</a:t>
            </a:r>
          </a:p>
          <a:p>
            <a:pPr>
              <a:spcBef>
                <a:spcPts val="600"/>
              </a:spcBef>
            </a:pPr>
            <a:r>
              <a:rPr sz="2100">
                <a:solidFill>
                  <a:srgbClr val="D0E8F5"/>
                </a:solidFill>
              </a:rPr>
              <a:t>•  Hyperparameter tuning plateaus at RMSE ≈ 19.6  — structural limit, not a tuning issue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MLP — Results</a:t>
            </a:r>
          </a:p>
        </p:txBody>
      </p:sp>
      <p:sp>
        <p:nvSpPr>
          <p:cNvPr id="4" name="Rectangle 3"/>
          <p:cNvSpPr/>
          <p:nvPr/>
        </p:nvSpPr>
        <p:spPr>
          <a:xfrm>
            <a:off x="10634472" y="137160"/>
            <a:ext cx="1371600" cy="41148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FELIX  2/5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51560"/>
            <a:ext cx="3794760" cy="502920"/>
          </a:xfrm>
          <a:prstGeom prst="rect">
            <a:avLst/>
          </a:prstGeom>
          <a:noFill/>
        </p:spPr>
        <p:txBody>
          <a:bodyPr wrap="square">
            <a:spAutoFit/>
          </a:bodyPr>
          <a:lstStyle/>
          <a:p>
            <a:pPr algn="ctr"/>
            <a:r>
              <a:rPr sz="2800" b="1">
                <a:solidFill>
                  <a:srgbClr val="6FD08C"/>
                </a:solidFill>
              </a:rPr>
              <a:t>12.07</a:t>
            </a:r>
          </a:p>
        </p:txBody>
      </p:sp>
      <p:sp>
        <p:nvSpPr>
          <p:cNvPr id="9" name="TextBox 8"/>
          <p:cNvSpPr txBox="1"/>
          <p:nvPr/>
        </p:nvSpPr>
        <p:spPr>
          <a:xfrm>
            <a:off x="274320" y="1536192"/>
            <a:ext cx="3794760" cy="292608"/>
          </a:xfrm>
          <a:prstGeom prst="rect">
            <a:avLst/>
          </a:prstGeom>
          <a:noFill/>
        </p:spPr>
        <p:txBody>
          <a:bodyPr wrap="square">
            <a:spAutoFit/>
          </a:bodyPr>
          <a:lstStyle/>
          <a:p>
            <a:pPr algn="ctr"/>
            <a:r>
              <a:rPr sz="1400" b="0">
                <a:solidFill>
                  <a:srgbClr val="7A96B2"/>
                </a:solidFill>
              </a:rPr>
              <a:t>MAE (test)</a:t>
            </a:r>
          </a:p>
        </p:txBody>
      </p:sp>
      <p:sp>
        <p:nvSpPr>
          <p:cNvPr id="10" name="Rectangle 9"/>
          <p:cNvSpPr/>
          <p:nvPr/>
        </p:nvSpPr>
        <p:spPr>
          <a:xfrm>
            <a:off x="420624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051560"/>
            <a:ext cx="3794760" cy="502920"/>
          </a:xfrm>
          <a:prstGeom prst="rect">
            <a:avLst/>
          </a:prstGeom>
          <a:noFill/>
        </p:spPr>
        <p:txBody>
          <a:bodyPr wrap="square">
            <a:spAutoFit/>
          </a:bodyPr>
          <a:lstStyle/>
          <a:p>
            <a:pPr algn="ctr"/>
            <a:r>
              <a:rPr sz="2800" b="1">
                <a:solidFill>
                  <a:srgbClr val="6FD08C"/>
                </a:solidFill>
              </a:rPr>
              <a:t>16.89</a:t>
            </a:r>
          </a:p>
        </p:txBody>
      </p:sp>
      <p:sp>
        <p:nvSpPr>
          <p:cNvPr id="12" name="TextBox 11"/>
          <p:cNvSpPr txBox="1"/>
          <p:nvPr/>
        </p:nvSpPr>
        <p:spPr>
          <a:xfrm>
            <a:off x="4206240" y="1536192"/>
            <a:ext cx="3794760" cy="292608"/>
          </a:xfrm>
          <a:prstGeom prst="rect">
            <a:avLst/>
          </a:prstGeom>
          <a:noFill/>
        </p:spPr>
        <p:txBody>
          <a:bodyPr wrap="square">
            <a:spAutoFit/>
          </a:bodyPr>
          <a:lstStyle/>
          <a:p>
            <a:pPr algn="ctr"/>
            <a:r>
              <a:rPr sz="1400" b="0">
                <a:solidFill>
                  <a:srgbClr val="7A96B2"/>
                </a:solidFill>
              </a:rPr>
              <a:t>RMSE (test)</a:t>
            </a:r>
          </a:p>
        </p:txBody>
      </p:sp>
      <p:sp>
        <p:nvSpPr>
          <p:cNvPr id="13" name="Rectangle 12"/>
          <p:cNvSpPr/>
          <p:nvPr/>
        </p:nvSpPr>
        <p:spPr>
          <a:xfrm>
            <a:off x="813816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051560"/>
            <a:ext cx="3794760" cy="502920"/>
          </a:xfrm>
          <a:prstGeom prst="rect">
            <a:avLst/>
          </a:prstGeom>
          <a:noFill/>
        </p:spPr>
        <p:txBody>
          <a:bodyPr wrap="square">
            <a:spAutoFit/>
          </a:bodyPr>
          <a:lstStyle/>
          <a:p>
            <a:pPr algn="ctr"/>
            <a:r>
              <a:rPr sz="2800" b="1">
                <a:solidFill>
                  <a:srgbClr val="6FD08C"/>
                </a:solidFill>
              </a:rPr>
              <a:t>0.625</a:t>
            </a:r>
          </a:p>
        </p:txBody>
      </p:sp>
      <p:sp>
        <p:nvSpPr>
          <p:cNvPr id="15" name="TextBox 14"/>
          <p:cNvSpPr txBox="1"/>
          <p:nvPr/>
        </p:nvSpPr>
        <p:spPr>
          <a:xfrm>
            <a:off x="8138160" y="1536192"/>
            <a:ext cx="3794760" cy="292608"/>
          </a:xfrm>
          <a:prstGeom prst="rect">
            <a:avLst/>
          </a:prstGeom>
          <a:noFill/>
        </p:spPr>
        <p:txBody>
          <a:bodyPr wrap="square">
            <a:spAutoFit/>
          </a:bodyPr>
          <a:lstStyle/>
          <a:p>
            <a:pPr algn="ctr"/>
            <a:r>
              <a:rPr sz="1400" b="0">
                <a:solidFill>
                  <a:srgbClr val="7A96B2"/>
                </a:solidFill>
              </a:rPr>
              <a:t>R² (test)</a:t>
            </a:r>
          </a:p>
        </p:txBody>
      </p:sp>
      <p:sp>
        <p:nvSpPr>
          <p:cNvPr id="16" name="TextBox 15"/>
          <p:cNvSpPr txBox="1"/>
          <p:nvPr/>
        </p:nvSpPr>
        <p:spPr>
          <a:xfrm>
            <a:off x="274320" y="2148840"/>
            <a:ext cx="11521440" cy="3931920"/>
          </a:xfrm>
          <a:prstGeom prst="rect">
            <a:avLst/>
          </a:prstGeom>
          <a:noFill/>
        </p:spPr>
        <p:txBody>
          <a:bodyPr wrap="square">
            <a:spAutoFit/>
          </a:bodyPr>
          <a:lstStyle/>
          <a:p>
            <a:pPr>
              <a:spcBef>
                <a:spcPts val="600"/>
              </a:spcBef>
            </a:pPr>
            <a:r>
              <a:rPr sz="2100">
                <a:solidFill>
                  <a:srgbClr val="D0E8F5"/>
                </a:solidFill>
              </a:rPr>
              <a:t>•  Marginal improvement over RF in error metrics</a:t>
            </a:r>
          </a:p>
          <a:p>
            <a:pPr>
              <a:spcBef>
                <a:spcPts val="600"/>
              </a:spcBef>
            </a:pPr>
            <a:r>
              <a:rPr sz="2100">
                <a:solidFill>
                  <a:srgbClr val="D0E8F5"/>
                </a:solidFill>
              </a:rPr>
              <a:t>•  Tighter clustering around the diagonal vs. RF</a:t>
            </a:r>
          </a:p>
          <a:p>
            <a:pPr>
              <a:spcBef>
                <a:spcPts val="600"/>
              </a:spcBef>
            </a:pPr>
            <a:r>
              <a:rPr sz="2100">
                <a:solidFill>
                  <a:srgbClr val="D0E8F5"/>
                </a:solidFill>
              </a:rPr>
              <a:t>•  Test R² drops from 0.792 → 0.625  — generalisation limited by flat input</a:t>
            </a:r>
          </a:p>
          <a:p>
            <a:pPr>
              <a:spcBef>
                <a:spcPts val="600"/>
              </a:spcBef>
            </a:pPr>
            <a:r>
              <a:rPr sz="2100">
                <a:solidFill>
                  <a:srgbClr val="D0E8F5"/>
                </a:solidFill>
              </a:rPr>
              <a:t>•  Architecture [64, 128, 64] + LR 0.0005 was optimal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LSTM — Results</a:t>
            </a:r>
          </a:p>
        </p:txBody>
      </p:sp>
      <p:sp>
        <p:nvSpPr>
          <p:cNvPr id="4" name="Rectangle 3"/>
          <p:cNvSpPr/>
          <p:nvPr/>
        </p:nvSpPr>
        <p:spPr>
          <a:xfrm>
            <a:off x="10634472" y="137160"/>
            <a:ext cx="1371600" cy="41148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FELIX  3/5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51560"/>
            <a:ext cx="3794760" cy="502920"/>
          </a:xfrm>
          <a:prstGeom prst="rect">
            <a:avLst/>
          </a:prstGeom>
          <a:noFill/>
        </p:spPr>
        <p:txBody>
          <a:bodyPr wrap="square">
            <a:spAutoFit/>
          </a:bodyPr>
          <a:lstStyle/>
          <a:p>
            <a:pPr algn="ctr"/>
            <a:r>
              <a:rPr sz="2800" b="1">
                <a:solidFill>
                  <a:srgbClr val="6FD08C"/>
                </a:solidFill>
              </a:rPr>
              <a:t>10.34</a:t>
            </a:r>
          </a:p>
        </p:txBody>
      </p:sp>
      <p:sp>
        <p:nvSpPr>
          <p:cNvPr id="9" name="TextBox 8"/>
          <p:cNvSpPr txBox="1"/>
          <p:nvPr/>
        </p:nvSpPr>
        <p:spPr>
          <a:xfrm>
            <a:off x="274320" y="1536192"/>
            <a:ext cx="3794760" cy="292608"/>
          </a:xfrm>
          <a:prstGeom prst="rect">
            <a:avLst/>
          </a:prstGeom>
          <a:noFill/>
        </p:spPr>
        <p:txBody>
          <a:bodyPr wrap="square">
            <a:spAutoFit/>
          </a:bodyPr>
          <a:lstStyle/>
          <a:p>
            <a:pPr algn="ctr"/>
            <a:r>
              <a:rPr sz="1400" b="0">
                <a:solidFill>
                  <a:srgbClr val="7A96B2"/>
                </a:solidFill>
              </a:rPr>
              <a:t>MAE (test)</a:t>
            </a:r>
          </a:p>
        </p:txBody>
      </p:sp>
      <p:sp>
        <p:nvSpPr>
          <p:cNvPr id="10" name="Rectangle 9"/>
          <p:cNvSpPr/>
          <p:nvPr/>
        </p:nvSpPr>
        <p:spPr>
          <a:xfrm>
            <a:off x="420624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051560"/>
            <a:ext cx="3794760" cy="502920"/>
          </a:xfrm>
          <a:prstGeom prst="rect">
            <a:avLst/>
          </a:prstGeom>
          <a:noFill/>
        </p:spPr>
        <p:txBody>
          <a:bodyPr wrap="square">
            <a:spAutoFit/>
          </a:bodyPr>
          <a:lstStyle/>
          <a:p>
            <a:pPr algn="ctr"/>
            <a:r>
              <a:rPr sz="2800" b="1">
                <a:solidFill>
                  <a:srgbClr val="6FD08C"/>
                </a:solidFill>
              </a:rPr>
              <a:t>14.76</a:t>
            </a:r>
          </a:p>
        </p:txBody>
      </p:sp>
      <p:sp>
        <p:nvSpPr>
          <p:cNvPr id="12" name="TextBox 11"/>
          <p:cNvSpPr txBox="1"/>
          <p:nvPr/>
        </p:nvSpPr>
        <p:spPr>
          <a:xfrm>
            <a:off x="4206240" y="1536192"/>
            <a:ext cx="3794760" cy="292608"/>
          </a:xfrm>
          <a:prstGeom prst="rect">
            <a:avLst/>
          </a:prstGeom>
          <a:noFill/>
        </p:spPr>
        <p:txBody>
          <a:bodyPr wrap="square">
            <a:spAutoFit/>
          </a:bodyPr>
          <a:lstStyle/>
          <a:p>
            <a:pPr algn="ctr"/>
            <a:r>
              <a:rPr sz="1400" b="0">
                <a:solidFill>
                  <a:srgbClr val="7A96B2"/>
                </a:solidFill>
              </a:rPr>
              <a:t>RMSE (test)</a:t>
            </a:r>
          </a:p>
        </p:txBody>
      </p:sp>
      <p:sp>
        <p:nvSpPr>
          <p:cNvPr id="13" name="Rectangle 12"/>
          <p:cNvSpPr/>
          <p:nvPr/>
        </p:nvSpPr>
        <p:spPr>
          <a:xfrm>
            <a:off x="8138160" y="1005840"/>
            <a:ext cx="3794760" cy="91440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051560"/>
            <a:ext cx="3794760" cy="502920"/>
          </a:xfrm>
          <a:prstGeom prst="rect">
            <a:avLst/>
          </a:prstGeom>
          <a:noFill/>
        </p:spPr>
        <p:txBody>
          <a:bodyPr wrap="square">
            <a:spAutoFit/>
          </a:bodyPr>
          <a:lstStyle/>
          <a:p>
            <a:pPr algn="ctr"/>
            <a:r>
              <a:rPr sz="2800" b="1">
                <a:solidFill>
                  <a:srgbClr val="6FD08C"/>
                </a:solidFill>
              </a:rPr>
              <a:t>0.754</a:t>
            </a:r>
          </a:p>
        </p:txBody>
      </p:sp>
      <p:sp>
        <p:nvSpPr>
          <p:cNvPr id="15" name="TextBox 14"/>
          <p:cNvSpPr txBox="1"/>
          <p:nvPr/>
        </p:nvSpPr>
        <p:spPr>
          <a:xfrm>
            <a:off x="8138160" y="1536192"/>
            <a:ext cx="3794760" cy="292608"/>
          </a:xfrm>
          <a:prstGeom prst="rect">
            <a:avLst/>
          </a:prstGeom>
          <a:noFill/>
        </p:spPr>
        <p:txBody>
          <a:bodyPr wrap="square">
            <a:spAutoFit/>
          </a:bodyPr>
          <a:lstStyle/>
          <a:p>
            <a:pPr algn="ctr"/>
            <a:r>
              <a:rPr sz="1400" b="0">
                <a:solidFill>
                  <a:srgbClr val="7A96B2"/>
                </a:solidFill>
              </a:rPr>
              <a:t>R² (test)</a:t>
            </a:r>
          </a:p>
        </p:txBody>
      </p:sp>
      <p:sp>
        <p:nvSpPr>
          <p:cNvPr id="16" name="TextBox 15"/>
          <p:cNvSpPr txBox="1"/>
          <p:nvPr/>
        </p:nvSpPr>
        <p:spPr>
          <a:xfrm>
            <a:off x="274320" y="2148840"/>
            <a:ext cx="11521440" cy="3931920"/>
          </a:xfrm>
          <a:prstGeom prst="rect">
            <a:avLst/>
          </a:prstGeom>
          <a:noFill/>
        </p:spPr>
        <p:txBody>
          <a:bodyPr wrap="square">
            <a:spAutoFit/>
          </a:bodyPr>
          <a:lstStyle/>
          <a:p>
            <a:pPr>
              <a:spcBef>
                <a:spcPts val="600"/>
              </a:spcBef>
            </a:pPr>
            <a:r>
              <a:rPr sz="2100">
                <a:solidFill>
                  <a:srgbClr val="D0E8F5"/>
                </a:solidFill>
              </a:rPr>
              <a:t>•  Best model — explicitly models temporal degradation sequences</a:t>
            </a:r>
          </a:p>
          <a:p>
            <a:pPr>
              <a:spcBef>
                <a:spcPts val="600"/>
              </a:spcBef>
            </a:pPr>
            <a:r>
              <a:rPr sz="2100">
                <a:solidFill>
                  <a:srgbClr val="D0E8F5"/>
                </a:solidFill>
              </a:rPr>
              <a:t>•  Substantially lower RMSE vs. RF and MLP on both val and test</a:t>
            </a:r>
          </a:p>
          <a:p>
            <a:pPr>
              <a:spcBef>
                <a:spcPts val="600"/>
              </a:spcBef>
            </a:pPr>
            <a:r>
              <a:rPr sz="2100">
                <a:solidFill>
                  <a:srgbClr val="D0E8F5"/>
                </a:solidFill>
              </a:rPr>
              <a:t>•  Narrower residual distribution — fewer extreme errors</a:t>
            </a:r>
          </a:p>
          <a:p>
            <a:pPr>
              <a:spcBef>
                <a:spcPts val="600"/>
              </a:spcBef>
            </a:pPr>
            <a:r>
              <a:rPr sz="2100">
                <a:solidFill>
                  <a:srgbClr val="D0E8F5"/>
                </a:solidFill>
              </a:rPr>
              <a:t>•  Val → test R² drop of only 0.14 pts (RF/MLP: ~0.17)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Model Comparison</a:t>
            </a:r>
          </a:p>
        </p:txBody>
      </p:sp>
      <p:sp>
        <p:nvSpPr>
          <p:cNvPr id="4" name="Rectangle 3"/>
          <p:cNvSpPr/>
          <p:nvPr/>
        </p:nvSpPr>
        <p:spPr>
          <a:xfrm>
            <a:off x="10634472" y="137160"/>
            <a:ext cx="1371600" cy="41148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FELIX  4/5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05840"/>
            <a:ext cx="11750040" cy="512064"/>
          </a:xfrm>
          <a:prstGeom prst="rect">
            <a:avLst/>
          </a:prstGeom>
          <a:solidFill>
            <a:srgbClr val="007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05840"/>
            <a:ext cx="2926080" cy="512064"/>
          </a:xfrm>
          <a:prstGeom prst="rect">
            <a:avLst/>
          </a:prstGeom>
          <a:noFill/>
        </p:spPr>
        <p:txBody>
          <a:bodyPr wrap="square">
            <a:spAutoFit/>
          </a:bodyPr>
          <a:lstStyle/>
          <a:p>
            <a:pPr algn="l"/>
            <a:r>
              <a:rPr sz="2000" b="1">
                <a:solidFill>
                  <a:srgbClr val="FFFFFF"/>
                </a:solidFill>
              </a:rPr>
              <a:t>Metric</a:t>
            </a:r>
          </a:p>
        </p:txBody>
      </p:sp>
      <p:sp>
        <p:nvSpPr>
          <p:cNvPr id="9" name="TextBox 8"/>
          <p:cNvSpPr txBox="1"/>
          <p:nvPr/>
        </p:nvSpPr>
        <p:spPr>
          <a:xfrm>
            <a:off x="3246120" y="1005840"/>
            <a:ext cx="2926080" cy="512064"/>
          </a:xfrm>
          <a:prstGeom prst="rect">
            <a:avLst/>
          </a:prstGeom>
          <a:noFill/>
        </p:spPr>
        <p:txBody>
          <a:bodyPr wrap="square">
            <a:spAutoFit/>
          </a:bodyPr>
          <a:lstStyle/>
          <a:p>
            <a:pPr algn="l"/>
            <a:r>
              <a:rPr sz="2000" b="1">
                <a:solidFill>
                  <a:srgbClr val="FFFFFF"/>
                </a:solidFill>
              </a:rPr>
              <a:t>Random Forest</a:t>
            </a:r>
          </a:p>
        </p:txBody>
      </p:sp>
      <p:sp>
        <p:nvSpPr>
          <p:cNvPr id="10" name="TextBox 9"/>
          <p:cNvSpPr txBox="1"/>
          <p:nvPr/>
        </p:nvSpPr>
        <p:spPr>
          <a:xfrm>
            <a:off x="6217920" y="1005840"/>
            <a:ext cx="2926080" cy="512064"/>
          </a:xfrm>
          <a:prstGeom prst="rect">
            <a:avLst/>
          </a:prstGeom>
          <a:noFill/>
        </p:spPr>
        <p:txBody>
          <a:bodyPr wrap="square">
            <a:spAutoFit/>
          </a:bodyPr>
          <a:lstStyle/>
          <a:p>
            <a:pPr algn="l"/>
            <a:r>
              <a:rPr sz="2000" b="1">
                <a:solidFill>
                  <a:srgbClr val="FFFFFF"/>
                </a:solidFill>
              </a:rPr>
              <a:t>MLP</a:t>
            </a:r>
          </a:p>
        </p:txBody>
      </p:sp>
      <p:sp>
        <p:nvSpPr>
          <p:cNvPr id="11" name="TextBox 10"/>
          <p:cNvSpPr txBox="1"/>
          <p:nvPr/>
        </p:nvSpPr>
        <p:spPr>
          <a:xfrm>
            <a:off x="9189720" y="1005840"/>
            <a:ext cx="2743200" cy="512064"/>
          </a:xfrm>
          <a:prstGeom prst="rect">
            <a:avLst/>
          </a:prstGeom>
          <a:noFill/>
        </p:spPr>
        <p:txBody>
          <a:bodyPr wrap="square">
            <a:spAutoFit/>
          </a:bodyPr>
          <a:lstStyle/>
          <a:p>
            <a:pPr algn="l"/>
            <a:r>
              <a:rPr sz="2000" b="1">
                <a:solidFill>
                  <a:srgbClr val="FFFFFF"/>
                </a:solidFill>
              </a:rPr>
              <a:t>LSTM</a:t>
            </a:r>
          </a:p>
        </p:txBody>
      </p:sp>
      <p:sp>
        <p:nvSpPr>
          <p:cNvPr id="12" name="Rectangle 11"/>
          <p:cNvSpPr/>
          <p:nvPr/>
        </p:nvSpPr>
        <p:spPr>
          <a:xfrm>
            <a:off x="228600" y="1517904"/>
            <a:ext cx="11750040" cy="512064"/>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17904"/>
            <a:ext cx="2926080" cy="512064"/>
          </a:xfrm>
          <a:prstGeom prst="rect">
            <a:avLst/>
          </a:prstGeom>
          <a:noFill/>
        </p:spPr>
        <p:txBody>
          <a:bodyPr wrap="square">
            <a:spAutoFit/>
          </a:bodyPr>
          <a:lstStyle/>
          <a:p>
            <a:pPr algn="l"/>
            <a:r>
              <a:rPr sz="1900" b="0">
                <a:solidFill>
                  <a:srgbClr val="D0E8F5"/>
                </a:solidFill>
              </a:rPr>
              <a:t>RMSE  (val / test)</a:t>
            </a:r>
          </a:p>
        </p:txBody>
      </p:sp>
      <p:sp>
        <p:nvSpPr>
          <p:cNvPr id="14" name="TextBox 13"/>
          <p:cNvSpPr txBox="1"/>
          <p:nvPr/>
        </p:nvSpPr>
        <p:spPr>
          <a:xfrm>
            <a:off x="3246120" y="1517904"/>
            <a:ext cx="2926080" cy="512064"/>
          </a:xfrm>
          <a:prstGeom prst="rect">
            <a:avLst/>
          </a:prstGeom>
          <a:noFill/>
        </p:spPr>
        <p:txBody>
          <a:bodyPr wrap="square">
            <a:spAutoFit/>
          </a:bodyPr>
          <a:lstStyle/>
          <a:p>
            <a:pPr algn="l"/>
            <a:r>
              <a:rPr sz="1900" b="0">
                <a:solidFill>
                  <a:srgbClr val="D0E8F5"/>
                </a:solidFill>
              </a:rPr>
              <a:t>19.58 / 17.18</a:t>
            </a:r>
          </a:p>
        </p:txBody>
      </p:sp>
      <p:sp>
        <p:nvSpPr>
          <p:cNvPr id="15" name="TextBox 14"/>
          <p:cNvSpPr txBox="1"/>
          <p:nvPr/>
        </p:nvSpPr>
        <p:spPr>
          <a:xfrm>
            <a:off x="6217920" y="1517904"/>
            <a:ext cx="2926080" cy="512064"/>
          </a:xfrm>
          <a:prstGeom prst="rect">
            <a:avLst/>
          </a:prstGeom>
          <a:noFill/>
        </p:spPr>
        <p:txBody>
          <a:bodyPr wrap="square">
            <a:spAutoFit/>
          </a:bodyPr>
          <a:lstStyle/>
          <a:p>
            <a:pPr algn="l"/>
            <a:r>
              <a:rPr sz="1900" b="0">
                <a:solidFill>
                  <a:srgbClr val="D0E8F5"/>
                </a:solidFill>
              </a:rPr>
              <a:t>18.95 / 16.89</a:t>
            </a:r>
          </a:p>
        </p:txBody>
      </p:sp>
      <p:sp>
        <p:nvSpPr>
          <p:cNvPr id="16" name="TextBox 15"/>
          <p:cNvSpPr txBox="1"/>
          <p:nvPr/>
        </p:nvSpPr>
        <p:spPr>
          <a:xfrm>
            <a:off x="9189720" y="1517904"/>
            <a:ext cx="2743200" cy="512064"/>
          </a:xfrm>
          <a:prstGeom prst="rect">
            <a:avLst/>
          </a:prstGeom>
          <a:noFill/>
        </p:spPr>
        <p:txBody>
          <a:bodyPr wrap="square">
            <a:spAutoFit/>
          </a:bodyPr>
          <a:lstStyle/>
          <a:p>
            <a:pPr algn="l"/>
            <a:r>
              <a:rPr sz="1900" b="1">
                <a:solidFill>
                  <a:srgbClr val="6FD08C"/>
                </a:solidFill>
              </a:rPr>
              <a:t>13.35 / 14.76</a:t>
            </a:r>
          </a:p>
        </p:txBody>
      </p:sp>
      <p:sp>
        <p:nvSpPr>
          <p:cNvPr id="17" name="Rectangle 16"/>
          <p:cNvSpPr/>
          <p:nvPr/>
        </p:nvSpPr>
        <p:spPr>
          <a:xfrm>
            <a:off x="228600" y="2029968"/>
            <a:ext cx="11750040" cy="5120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2029968"/>
            <a:ext cx="2926080" cy="512064"/>
          </a:xfrm>
          <a:prstGeom prst="rect">
            <a:avLst/>
          </a:prstGeom>
          <a:noFill/>
        </p:spPr>
        <p:txBody>
          <a:bodyPr wrap="square">
            <a:spAutoFit/>
          </a:bodyPr>
          <a:lstStyle/>
          <a:p>
            <a:pPr algn="l"/>
            <a:r>
              <a:rPr sz="1900" b="0">
                <a:solidFill>
                  <a:srgbClr val="D0E8F5"/>
                </a:solidFill>
              </a:rPr>
              <a:t>R²      (val / test)</a:t>
            </a:r>
          </a:p>
        </p:txBody>
      </p:sp>
      <p:sp>
        <p:nvSpPr>
          <p:cNvPr id="19" name="TextBox 18"/>
          <p:cNvSpPr txBox="1"/>
          <p:nvPr/>
        </p:nvSpPr>
        <p:spPr>
          <a:xfrm>
            <a:off x="3246120" y="2029968"/>
            <a:ext cx="2926080" cy="512064"/>
          </a:xfrm>
          <a:prstGeom prst="rect">
            <a:avLst/>
          </a:prstGeom>
          <a:noFill/>
        </p:spPr>
        <p:txBody>
          <a:bodyPr wrap="square">
            <a:spAutoFit/>
          </a:bodyPr>
          <a:lstStyle/>
          <a:p>
            <a:pPr algn="l"/>
            <a:r>
              <a:rPr sz="1900" b="0">
                <a:solidFill>
                  <a:srgbClr val="D0E8F5"/>
                </a:solidFill>
              </a:rPr>
              <a:t>0.778 / 0.612</a:t>
            </a:r>
          </a:p>
        </p:txBody>
      </p:sp>
      <p:sp>
        <p:nvSpPr>
          <p:cNvPr id="20" name="TextBox 19"/>
          <p:cNvSpPr txBox="1"/>
          <p:nvPr/>
        </p:nvSpPr>
        <p:spPr>
          <a:xfrm>
            <a:off x="6217920" y="2029968"/>
            <a:ext cx="2926080" cy="512064"/>
          </a:xfrm>
          <a:prstGeom prst="rect">
            <a:avLst/>
          </a:prstGeom>
          <a:noFill/>
        </p:spPr>
        <p:txBody>
          <a:bodyPr wrap="square">
            <a:spAutoFit/>
          </a:bodyPr>
          <a:lstStyle/>
          <a:p>
            <a:pPr algn="l"/>
            <a:r>
              <a:rPr sz="1900" b="0">
                <a:solidFill>
                  <a:srgbClr val="D0E8F5"/>
                </a:solidFill>
              </a:rPr>
              <a:t>0.792 / 0.625</a:t>
            </a:r>
          </a:p>
        </p:txBody>
      </p:sp>
      <p:sp>
        <p:nvSpPr>
          <p:cNvPr id="21" name="TextBox 20"/>
          <p:cNvSpPr txBox="1"/>
          <p:nvPr/>
        </p:nvSpPr>
        <p:spPr>
          <a:xfrm>
            <a:off x="9189720" y="2029968"/>
            <a:ext cx="2743200" cy="512064"/>
          </a:xfrm>
          <a:prstGeom prst="rect">
            <a:avLst/>
          </a:prstGeom>
          <a:noFill/>
        </p:spPr>
        <p:txBody>
          <a:bodyPr wrap="square">
            <a:spAutoFit/>
          </a:bodyPr>
          <a:lstStyle/>
          <a:p>
            <a:pPr algn="l"/>
            <a:r>
              <a:rPr sz="1900" b="1">
                <a:solidFill>
                  <a:srgbClr val="6FD08C"/>
                </a:solidFill>
              </a:rPr>
              <a:t>0.898 / 0.754</a:t>
            </a:r>
          </a:p>
        </p:txBody>
      </p:sp>
      <p:sp>
        <p:nvSpPr>
          <p:cNvPr id="22" name="Rectangle 21"/>
          <p:cNvSpPr/>
          <p:nvPr/>
        </p:nvSpPr>
        <p:spPr>
          <a:xfrm>
            <a:off x="228600" y="2542032"/>
            <a:ext cx="11750040" cy="512064"/>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2542032"/>
            <a:ext cx="2926080" cy="512064"/>
          </a:xfrm>
          <a:prstGeom prst="rect">
            <a:avLst/>
          </a:prstGeom>
          <a:noFill/>
        </p:spPr>
        <p:txBody>
          <a:bodyPr wrap="square">
            <a:spAutoFit/>
          </a:bodyPr>
          <a:lstStyle/>
          <a:p>
            <a:pPr algn="l"/>
            <a:r>
              <a:rPr sz="1900" b="0">
                <a:solidFill>
                  <a:srgbClr val="D0E8F5"/>
                </a:solidFill>
              </a:rPr>
              <a:t>MAE   (val / test)</a:t>
            </a:r>
          </a:p>
        </p:txBody>
      </p:sp>
      <p:sp>
        <p:nvSpPr>
          <p:cNvPr id="24" name="TextBox 23"/>
          <p:cNvSpPr txBox="1"/>
          <p:nvPr/>
        </p:nvSpPr>
        <p:spPr>
          <a:xfrm>
            <a:off x="3246120" y="2542032"/>
            <a:ext cx="2926080" cy="512064"/>
          </a:xfrm>
          <a:prstGeom prst="rect">
            <a:avLst/>
          </a:prstGeom>
          <a:noFill/>
        </p:spPr>
        <p:txBody>
          <a:bodyPr wrap="square">
            <a:spAutoFit/>
          </a:bodyPr>
          <a:lstStyle/>
          <a:p>
            <a:pPr algn="l"/>
            <a:r>
              <a:rPr sz="1900" b="0">
                <a:solidFill>
                  <a:srgbClr val="D0E8F5"/>
                </a:solidFill>
              </a:rPr>
              <a:t>14.01 / 12.38</a:t>
            </a:r>
          </a:p>
        </p:txBody>
      </p:sp>
      <p:sp>
        <p:nvSpPr>
          <p:cNvPr id="25" name="TextBox 24"/>
          <p:cNvSpPr txBox="1"/>
          <p:nvPr/>
        </p:nvSpPr>
        <p:spPr>
          <a:xfrm>
            <a:off x="6217920" y="2542032"/>
            <a:ext cx="2926080" cy="512064"/>
          </a:xfrm>
          <a:prstGeom prst="rect">
            <a:avLst/>
          </a:prstGeom>
          <a:noFill/>
        </p:spPr>
        <p:txBody>
          <a:bodyPr wrap="square">
            <a:spAutoFit/>
          </a:bodyPr>
          <a:lstStyle/>
          <a:p>
            <a:pPr algn="l"/>
            <a:r>
              <a:rPr sz="1900" b="0">
                <a:solidFill>
                  <a:srgbClr val="D0E8F5"/>
                </a:solidFill>
              </a:rPr>
              <a:t>13.50 / 12.07</a:t>
            </a:r>
          </a:p>
        </p:txBody>
      </p:sp>
      <p:sp>
        <p:nvSpPr>
          <p:cNvPr id="26" name="TextBox 25"/>
          <p:cNvSpPr txBox="1"/>
          <p:nvPr/>
        </p:nvSpPr>
        <p:spPr>
          <a:xfrm>
            <a:off x="9189720" y="2542032"/>
            <a:ext cx="2743200" cy="512064"/>
          </a:xfrm>
          <a:prstGeom prst="rect">
            <a:avLst/>
          </a:prstGeom>
          <a:noFill/>
        </p:spPr>
        <p:txBody>
          <a:bodyPr wrap="square">
            <a:spAutoFit/>
          </a:bodyPr>
          <a:lstStyle/>
          <a:p>
            <a:pPr algn="l"/>
            <a:r>
              <a:rPr sz="1900" b="1">
                <a:solidFill>
                  <a:srgbClr val="6FD08C"/>
                </a:solidFill>
              </a:rPr>
              <a:t>9.21 / 10.34</a:t>
            </a:r>
          </a:p>
        </p:txBody>
      </p:sp>
      <p:sp>
        <p:nvSpPr>
          <p:cNvPr id="27" name="Rectangle 26"/>
          <p:cNvSpPr/>
          <p:nvPr/>
        </p:nvSpPr>
        <p:spPr>
          <a:xfrm>
            <a:off x="228600" y="3054096"/>
            <a:ext cx="11750040" cy="5120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3054096"/>
            <a:ext cx="2926080" cy="512064"/>
          </a:xfrm>
          <a:prstGeom prst="rect">
            <a:avLst/>
          </a:prstGeom>
          <a:noFill/>
        </p:spPr>
        <p:txBody>
          <a:bodyPr wrap="square">
            <a:spAutoFit/>
          </a:bodyPr>
          <a:lstStyle/>
          <a:p>
            <a:pPr algn="l"/>
            <a:r>
              <a:rPr sz="1900" b="0">
                <a:solidFill>
                  <a:srgbClr val="D0E8F5"/>
                </a:solidFill>
              </a:rPr>
              <a:t>Parameters</a:t>
            </a:r>
          </a:p>
        </p:txBody>
      </p:sp>
      <p:sp>
        <p:nvSpPr>
          <p:cNvPr id="29" name="TextBox 28"/>
          <p:cNvSpPr txBox="1"/>
          <p:nvPr/>
        </p:nvSpPr>
        <p:spPr>
          <a:xfrm>
            <a:off x="3246120" y="3054096"/>
            <a:ext cx="2926080" cy="512064"/>
          </a:xfrm>
          <a:prstGeom prst="rect">
            <a:avLst/>
          </a:prstGeom>
          <a:noFill/>
        </p:spPr>
        <p:txBody>
          <a:bodyPr wrap="square">
            <a:spAutoFit/>
          </a:bodyPr>
          <a:lstStyle/>
          <a:p>
            <a:pPr algn="l"/>
            <a:r>
              <a:rPr sz="1900" b="0">
                <a:solidFill>
                  <a:srgbClr val="D0E8F5"/>
                </a:solidFill>
              </a:rPr>
              <a:t>~1 M</a:t>
            </a:r>
          </a:p>
        </p:txBody>
      </p:sp>
      <p:sp>
        <p:nvSpPr>
          <p:cNvPr id="30" name="TextBox 29"/>
          <p:cNvSpPr txBox="1"/>
          <p:nvPr/>
        </p:nvSpPr>
        <p:spPr>
          <a:xfrm>
            <a:off x="6217920" y="3054096"/>
            <a:ext cx="2926080" cy="512064"/>
          </a:xfrm>
          <a:prstGeom prst="rect">
            <a:avLst/>
          </a:prstGeom>
          <a:noFill/>
        </p:spPr>
        <p:txBody>
          <a:bodyPr wrap="square">
            <a:spAutoFit/>
          </a:bodyPr>
          <a:lstStyle/>
          <a:p>
            <a:pPr algn="l"/>
            <a:r>
              <a:rPr sz="1900" b="0">
                <a:solidFill>
                  <a:srgbClr val="D0E8F5"/>
                </a:solidFill>
              </a:rPr>
              <a:t>18 K</a:t>
            </a:r>
          </a:p>
        </p:txBody>
      </p:sp>
      <p:sp>
        <p:nvSpPr>
          <p:cNvPr id="31" name="TextBox 30"/>
          <p:cNvSpPr txBox="1"/>
          <p:nvPr/>
        </p:nvSpPr>
        <p:spPr>
          <a:xfrm>
            <a:off x="9189720" y="3054096"/>
            <a:ext cx="2743200" cy="512064"/>
          </a:xfrm>
          <a:prstGeom prst="rect">
            <a:avLst/>
          </a:prstGeom>
          <a:noFill/>
        </p:spPr>
        <p:txBody>
          <a:bodyPr wrap="square">
            <a:spAutoFit/>
          </a:bodyPr>
          <a:lstStyle/>
          <a:p>
            <a:pPr algn="l"/>
            <a:r>
              <a:rPr sz="1900" b="1">
                <a:solidFill>
                  <a:srgbClr val="6FD08C"/>
                </a:solidFill>
              </a:rPr>
              <a:t>83 K</a:t>
            </a:r>
          </a:p>
        </p:txBody>
      </p:sp>
      <p:sp>
        <p:nvSpPr>
          <p:cNvPr id="32" name="Rectangle 31"/>
          <p:cNvSpPr/>
          <p:nvPr/>
        </p:nvSpPr>
        <p:spPr>
          <a:xfrm>
            <a:off x="228600" y="3566160"/>
            <a:ext cx="11750040" cy="512064"/>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3566160"/>
            <a:ext cx="2926080" cy="512064"/>
          </a:xfrm>
          <a:prstGeom prst="rect">
            <a:avLst/>
          </a:prstGeom>
          <a:noFill/>
        </p:spPr>
        <p:txBody>
          <a:bodyPr wrap="square">
            <a:spAutoFit/>
          </a:bodyPr>
          <a:lstStyle/>
          <a:p>
            <a:pPr algn="l"/>
            <a:r>
              <a:rPr sz="1900" b="0">
                <a:solidFill>
                  <a:srgbClr val="D0E8F5"/>
                </a:solidFill>
              </a:rPr>
              <a:t>FLOPs (test)</a:t>
            </a:r>
          </a:p>
        </p:txBody>
      </p:sp>
      <p:sp>
        <p:nvSpPr>
          <p:cNvPr id="34" name="TextBox 33"/>
          <p:cNvSpPr txBox="1"/>
          <p:nvPr/>
        </p:nvSpPr>
        <p:spPr>
          <a:xfrm>
            <a:off x="3246120" y="3566160"/>
            <a:ext cx="2926080" cy="512064"/>
          </a:xfrm>
          <a:prstGeom prst="rect">
            <a:avLst/>
          </a:prstGeom>
          <a:noFill/>
        </p:spPr>
        <p:txBody>
          <a:bodyPr wrap="square">
            <a:spAutoFit/>
          </a:bodyPr>
          <a:lstStyle/>
          <a:p>
            <a:pPr algn="l"/>
            <a:r>
              <a:rPr sz="1900" b="0">
                <a:solidFill>
                  <a:srgbClr val="D0E8F5"/>
                </a:solidFill>
              </a:rPr>
              <a:t>52 M</a:t>
            </a:r>
          </a:p>
        </p:txBody>
      </p:sp>
      <p:sp>
        <p:nvSpPr>
          <p:cNvPr id="35" name="TextBox 34"/>
          <p:cNvSpPr txBox="1"/>
          <p:nvPr/>
        </p:nvSpPr>
        <p:spPr>
          <a:xfrm>
            <a:off x="6217920" y="3566160"/>
            <a:ext cx="2926080" cy="512064"/>
          </a:xfrm>
          <a:prstGeom prst="rect">
            <a:avLst/>
          </a:prstGeom>
          <a:noFill/>
        </p:spPr>
        <p:txBody>
          <a:bodyPr wrap="square">
            <a:spAutoFit/>
          </a:bodyPr>
          <a:lstStyle/>
          <a:p>
            <a:pPr algn="l"/>
            <a:r>
              <a:rPr sz="1900" b="0">
                <a:solidFill>
                  <a:srgbClr val="D0E8F5"/>
                </a:solidFill>
              </a:rPr>
              <a:t>456 M</a:t>
            </a:r>
          </a:p>
        </p:txBody>
      </p:sp>
      <p:sp>
        <p:nvSpPr>
          <p:cNvPr id="36" name="TextBox 35"/>
          <p:cNvSpPr txBox="1"/>
          <p:nvPr/>
        </p:nvSpPr>
        <p:spPr>
          <a:xfrm>
            <a:off x="9189720" y="3566160"/>
            <a:ext cx="2743200" cy="512064"/>
          </a:xfrm>
          <a:prstGeom prst="rect">
            <a:avLst/>
          </a:prstGeom>
          <a:noFill/>
        </p:spPr>
        <p:txBody>
          <a:bodyPr wrap="square">
            <a:spAutoFit/>
          </a:bodyPr>
          <a:lstStyle/>
          <a:p>
            <a:pPr algn="l"/>
            <a:r>
              <a:rPr sz="1900" b="1">
                <a:solidFill>
                  <a:srgbClr val="6FD08C"/>
                </a:solidFill>
              </a:rPr>
              <a:t>22.6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64008" cy="685800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37160"/>
            <a:ext cx="9601200" cy="685800"/>
          </a:xfrm>
          <a:prstGeom prst="rect">
            <a:avLst/>
          </a:prstGeom>
          <a:noFill/>
        </p:spPr>
        <p:txBody>
          <a:bodyPr wrap="square">
            <a:spAutoFit/>
          </a:bodyPr>
          <a:lstStyle/>
          <a:p>
            <a:pPr algn="l"/>
            <a:r>
              <a:rPr sz="2800" b="1">
                <a:solidFill>
                  <a:srgbClr val="FFFFFF"/>
                </a:solidFill>
              </a:rPr>
              <a:t>Optimisation &amp; Conclusions</a:t>
            </a:r>
          </a:p>
        </p:txBody>
      </p:sp>
      <p:sp>
        <p:nvSpPr>
          <p:cNvPr id="4" name="Rectangle 3"/>
          <p:cNvSpPr/>
          <p:nvPr/>
        </p:nvSpPr>
        <p:spPr>
          <a:xfrm>
            <a:off x="10634472" y="137160"/>
            <a:ext cx="1371600" cy="411480"/>
          </a:xfrm>
          <a:prstGeom prst="rect">
            <a:avLst/>
          </a:prstGeom>
          <a:solidFill>
            <a:srgbClr val="6FD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34472" y="137160"/>
            <a:ext cx="1371600" cy="411480"/>
          </a:xfrm>
          <a:prstGeom prst="rect">
            <a:avLst/>
          </a:prstGeom>
          <a:noFill/>
        </p:spPr>
        <p:txBody>
          <a:bodyPr wrap="square">
            <a:spAutoFit/>
          </a:bodyPr>
          <a:lstStyle/>
          <a:p>
            <a:pPr algn="ctr"/>
            <a:r>
              <a:rPr sz="1300" b="1">
                <a:solidFill>
                  <a:srgbClr val="0D1B2A"/>
                </a:solidFill>
              </a:rPr>
              <a:t>FELIX  5/5</a:t>
            </a:r>
          </a:p>
        </p:txBody>
      </p:sp>
      <p:sp>
        <p:nvSpPr>
          <p:cNvPr id="6" name="Rectangle 5"/>
          <p:cNvSpPr/>
          <p:nvPr/>
        </p:nvSpPr>
        <p:spPr>
          <a:xfrm>
            <a:off x="201168" y="841248"/>
            <a:ext cx="11795760" cy="12700"/>
          </a:xfrm>
          <a:prstGeom prst="rect">
            <a:avLst/>
          </a:prstGeom>
          <a:solidFill>
            <a:srgbClr val="25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539496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5029200" cy="457200"/>
          </a:xfrm>
          <a:prstGeom prst="rect">
            <a:avLst/>
          </a:prstGeom>
          <a:noFill/>
        </p:spPr>
        <p:txBody>
          <a:bodyPr wrap="square">
            <a:spAutoFit/>
          </a:bodyPr>
          <a:lstStyle/>
          <a:p>
            <a:pPr algn="l"/>
            <a:r>
              <a:rPr sz="2100" b="1">
                <a:solidFill>
                  <a:srgbClr val="6FD08C"/>
                </a:solidFill>
              </a:rPr>
              <a:t>Best LSTM Config</a:t>
            </a:r>
          </a:p>
        </p:txBody>
      </p:sp>
      <p:sp>
        <p:nvSpPr>
          <p:cNvPr id="9" name="TextBox 8"/>
          <p:cNvSpPr txBox="1"/>
          <p:nvPr/>
        </p:nvSpPr>
        <p:spPr>
          <a:xfrm>
            <a:off x="457200" y="1645920"/>
            <a:ext cx="5029200" cy="4114800"/>
          </a:xfrm>
          <a:prstGeom prst="rect">
            <a:avLst/>
          </a:prstGeom>
          <a:noFill/>
        </p:spPr>
        <p:txBody>
          <a:bodyPr wrap="square">
            <a:spAutoFit/>
          </a:bodyPr>
          <a:lstStyle/>
          <a:p>
            <a:pPr>
              <a:spcBef>
                <a:spcPts val="600"/>
              </a:spcBef>
            </a:pPr>
            <a:r>
              <a:rPr sz="2000">
                <a:solidFill>
                  <a:srgbClr val="D0E8F5"/>
                </a:solidFill>
              </a:rPr>
              <a:t>•  Hidden = 256  |  Sequence = 75 cycles</a:t>
            </a:r>
          </a:p>
          <a:p>
            <a:pPr>
              <a:spcBef>
                <a:spcPts val="600"/>
              </a:spcBef>
            </a:pPr>
            <a:r>
              <a:rPr sz="2000">
                <a:solidFill>
                  <a:srgbClr val="D0E8F5"/>
                </a:solidFill>
              </a:rPr>
              <a:t>•  Dropout = 0.4  |  Asymmetric loss (α = 1.5)</a:t>
            </a:r>
          </a:p>
          <a:p>
            <a:pPr>
              <a:spcBef>
                <a:spcPts val="600"/>
              </a:spcBef>
            </a:pPr>
            <a:r>
              <a:rPr sz="2000">
                <a:solidFill>
                  <a:srgbClr val="D0E8F5"/>
                </a:solidFill>
              </a:rPr>
              <a:t>•  ReduceLROnPlateau scheduler</a:t>
            </a:r>
          </a:p>
          <a:p>
            <a:pPr>
              <a:spcBef>
                <a:spcPts val="600"/>
              </a:spcBef>
            </a:pPr>
            <a:r>
              <a:rPr sz="2000">
                <a:solidFill>
                  <a:srgbClr val="D0E8F5"/>
                </a:solidFill>
              </a:rPr>
              <a:t>•  RMSE 13.33  |  R² 0.839  |  62.4% within 10 cycles</a:t>
            </a:r>
          </a:p>
        </p:txBody>
      </p:sp>
      <p:sp>
        <p:nvSpPr>
          <p:cNvPr id="10" name="Rectangle 9"/>
          <p:cNvSpPr/>
          <p:nvPr/>
        </p:nvSpPr>
        <p:spPr>
          <a:xfrm>
            <a:off x="6309360" y="1005840"/>
            <a:ext cx="5577840" cy="5212080"/>
          </a:xfrm>
          <a:prstGeom prst="rect">
            <a:avLst/>
          </a:prstGeom>
          <a:solidFill>
            <a:srgbClr val="15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097280"/>
            <a:ext cx="5212080" cy="457200"/>
          </a:xfrm>
          <a:prstGeom prst="rect">
            <a:avLst/>
          </a:prstGeom>
          <a:noFill/>
        </p:spPr>
        <p:txBody>
          <a:bodyPr wrap="square">
            <a:spAutoFit/>
          </a:bodyPr>
          <a:lstStyle/>
          <a:p>
            <a:pPr algn="l"/>
            <a:r>
              <a:rPr sz="2100" b="1">
                <a:solidFill>
                  <a:srgbClr val="6FD08C"/>
                </a:solidFill>
              </a:rPr>
              <a:t>Takeaways</a:t>
            </a:r>
          </a:p>
        </p:txBody>
      </p:sp>
      <p:sp>
        <p:nvSpPr>
          <p:cNvPr id="12" name="TextBox 11"/>
          <p:cNvSpPr txBox="1"/>
          <p:nvPr/>
        </p:nvSpPr>
        <p:spPr>
          <a:xfrm>
            <a:off x="6492240" y="1645920"/>
            <a:ext cx="5212080" cy="4114800"/>
          </a:xfrm>
          <a:prstGeom prst="rect">
            <a:avLst/>
          </a:prstGeom>
          <a:noFill/>
        </p:spPr>
        <p:txBody>
          <a:bodyPr wrap="square">
            <a:spAutoFit/>
          </a:bodyPr>
          <a:lstStyle/>
          <a:p>
            <a:pPr>
              <a:spcBef>
                <a:spcPts val="600"/>
              </a:spcBef>
            </a:pPr>
            <a:r>
              <a:rPr sz="2000">
                <a:solidFill>
                  <a:srgbClr val="D0E8F5"/>
                </a:solidFill>
              </a:rPr>
              <a:t>•  Temporal modelling drives accuracy  —  LSTM &gt; MLP &gt; RF</a:t>
            </a:r>
          </a:p>
          <a:p>
            <a:pPr>
              <a:spcBef>
                <a:spcPts val="600"/>
              </a:spcBef>
            </a:pPr>
            <a:r>
              <a:rPr sz="2000">
                <a:solidFill>
                  <a:srgbClr val="D0E8F5"/>
                </a:solidFill>
              </a:rPr>
              <a:t>•  More non-temporal complexity doesn't close the gap</a:t>
            </a:r>
          </a:p>
          <a:p>
            <a:pPr>
              <a:spcBef>
                <a:spcPts val="600"/>
              </a:spcBef>
            </a:pPr>
            <a:r>
              <a:rPr sz="2000">
                <a:solidFill>
                  <a:srgbClr val="D0E8F5"/>
                </a:solidFill>
              </a:rPr>
              <a:t>•  Asymmetric loss reduces dangerous overpredictions</a:t>
            </a:r>
          </a:p>
          <a:p>
            <a:pPr>
              <a:spcBef>
                <a:spcPts val="600"/>
              </a:spcBef>
            </a:pPr>
            <a:r>
              <a:rPr sz="2000">
                <a:solidFill>
                  <a:srgbClr val="D0E8F5"/>
                </a:solidFill>
              </a:rPr>
              <a:t>•  Future: attention, ensembling, multi-condition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